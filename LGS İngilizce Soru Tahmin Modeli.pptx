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nva Sans Bold" charset="1" panose="020B0803030501040103"/>
      <p:regular r:id="rId16"/>
    </p:embeddedFont>
    <p:embeddedFont>
      <p:font typeface="Copperplate Gothic 32 AB Bold" charset="1" panose="020E0707020206020404"/>
      <p:regular r:id="rId17"/>
    </p:embeddedFont>
    <p:embeddedFont>
      <p:font typeface="Canva Sans" charset="1" panose="020B05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meb.gov.tr" TargetMode="External" Type="http://schemas.openxmlformats.org/officeDocument/2006/relationships/hyperlink"/><Relationship Id="rId3" Target="https://odsgm.meb.gov.tr" TargetMode="External" Type="http://schemas.openxmlformats.org/officeDocument/2006/relationships/hyperlink"/><Relationship Id="rId4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3469" y="1550136"/>
            <a:ext cx="2539369" cy="2722520"/>
          </a:xfrm>
          <a:custGeom>
            <a:avLst/>
            <a:gdLst/>
            <a:ahLst/>
            <a:cxnLst/>
            <a:rect r="r" b="b" t="t" l="l"/>
            <a:pathLst>
              <a:path h="2722520" w="2539369">
                <a:moveTo>
                  <a:pt x="0" y="0"/>
                </a:moveTo>
                <a:lnTo>
                  <a:pt x="2539368" y="0"/>
                </a:lnTo>
                <a:lnTo>
                  <a:pt x="2539368" y="2722520"/>
                </a:lnTo>
                <a:lnTo>
                  <a:pt x="0" y="2722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35452" y="4891545"/>
            <a:ext cx="3023848" cy="2787438"/>
          </a:xfrm>
          <a:custGeom>
            <a:avLst/>
            <a:gdLst/>
            <a:ahLst/>
            <a:cxnLst/>
            <a:rect r="r" b="b" t="t" l="l"/>
            <a:pathLst>
              <a:path h="2787438" w="3023848">
                <a:moveTo>
                  <a:pt x="0" y="0"/>
                </a:moveTo>
                <a:lnTo>
                  <a:pt x="3023848" y="0"/>
                </a:lnTo>
                <a:lnTo>
                  <a:pt x="3023848" y="2787438"/>
                </a:lnTo>
                <a:lnTo>
                  <a:pt x="0" y="27874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701422" y="2202693"/>
            <a:ext cx="8623387" cy="7545464"/>
            <a:chOff x="0" y="0"/>
            <a:chExt cx="812800" cy="711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11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11">
                  <a:moveTo>
                    <a:pt x="530371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275871"/>
                  </a:cubicBezTo>
                  <a:cubicBezTo>
                    <a:pt x="0" y="386169"/>
                    <a:pt x="66279" y="481310"/>
                    <a:pt x="162037" y="525451"/>
                  </a:cubicBezTo>
                  <a:lnTo>
                    <a:pt x="162037" y="711200"/>
                  </a:lnTo>
                  <a:lnTo>
                    <a:pt x="353844" y="551732"/>
                  </a:lnTo>
                  <a:lnTo>
                    <a:pt x="530371" y="551732"/>
                  </a:lnTo>
                  <a:cubicBezTo>
                    <a:pt x="686363" y="551732"/>
                    <a:pt x="812800" y="428220"/>
                    <a:pt x="812800" y="275861"/>
                  </a:cubicBezTo>
                  <a:cubicBezTo>
                    <a:pt x="812811" y="123512"/>
                    <a:pt x="686363" y="0"/>
                    <a:pt x="530371" y="0"/>
                  </a:cubicBezTo>
                  <a:close/>
                </a:path>
              </a:pathLst>
            </a:custGeom>
            <a:solidFill>
              <a:srgbClr val="F0E44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812800" cy="51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85917" y="6099666"/>
            <a:ext cx="3954472" cy="3158634"/>
          </a:xfrm>
          <a:custGeom>
            <a:avLst/>
            <a:gdLst/>
            <a:ahLst/>
            <a:cxnLst/>
            <a:rect r="r" b="b" t="t" l="l"/>
            <a:pathLst>
              <a:path h="3158634" w="3954472">
                <a:moveTo>
                  <a:pt x="0" y="0"/>
                </a:moveTo>
                <a:lnTo>
                  <a:pt x="3954472" y="0"/>
                </a:lnTo>
                <a:lnTo>
                  <a:pt x="3954472" y="3158634"/>
                </a:lnTo>
                <a:lnTo>
                  <a:pt x="0" y="31586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489274" y="613925"/>
            <a:ext cx="869489" cy="1588768"/>
          </a:xfrm>
          <a:custGeom>
            <a:avLst/>
            <a:gdLst/>
            <a:ahLst/>
            <a:cxnLst/>
            <a:rect r="r" b="b" t="t" l="l"/>
            <a:pathLst>
              <a:path h="1588768" w="869489">
                <a:moveTo>
                  <a:pt x="0" y="0"/>
                </a:moveTo>
                <a:lnTo>
                  <a:pt x="869489" y="0"/>
                </a:lnTo>
                <a:lnTo>
                  <a:pt x="869489" y="1588768"/>
                </a:lnTo>
                <a:lnTo>
                  <a:pt x="0" y="15887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765577" y="8499425"/>
            <a:ext cx="7360174" cy="963461"/>
            <a:chOff x="0" y="0"/>
            <a:chExt cx="1938482" cy="2537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38482" cy="253751"/>
            </a:xfrm>
            <a:custGeom>
              <a:avLst/>
              <a:gdLst/>
              <a:ahLst/>
              <a:cxnLst/>
              <a:rect r="r" b="b" t="t" l="l"/>
              <a:pathLst>
                <a:path h="253751" w="1938482">
                  <a:moveTo>
                    <a:pt x="53645" y="0"/>
                  </a:moveTo>
                  <a:lnTo>
                    <a:pt x="1884837" y="0"/>
                  </a:lnTo>
                  <a:cubicBezTo>
                    <a:pt x="1899065" y="0"/>
                    <a:pt x="1912709" y="5652"/>
                    <a:pt x="1922770" y="15712"/>
                  </a:cubicBezTo>
                  <a:cubicBezTo>
                    <a:pt x="1932830" y="25773"/>
                    <a:pt x="1938482" y="39418"/>
                    <a:pt x="1938482" y="53645"/>
                  </a:cubicBezTo>
                  <a:lnTo>
                    <a:pt x="1938482" y="200106"/>
                  </a:lnTo>
                  <a:cubicBezTo>
                    <a:pt x="1938482" y="229733"/>
                    <a:pt x="1914464" y="253751"/>
                    <a:pt x="1884837" y="253751"/>
                  </a:cubicBezTo>
                  <a:lnTo>
                    <a:pt x="53645" y="253751"/>
                  </a:lnTo>
                  <a:cubicBezTo>
                    <a:pt x="39418" y="253751"/>
                    <a:pt x="25773" y="248099"/>
                    <a:pt x="15712" y="238039"/>
                  </a:cubicBezTo>
                  <a:cubicBezTo>
                    <a:pt x="5652" y="227978"/>
                    <a:pt x="0" y="214333"/>
                    <a:pt x="0" y="200106"/>
                  </a:cubicBezTo>
                  <a:lnTo>
                    <a:pt x="0" y="53645"/>
                  </a:lnTo>
                  <a:cubicBezTo>
                    <a:pt x="0" y="39418"/>
                    <a:pt x="5652" y="25773"/>
                    <a:pt x="15712" y="15712"/>
                  </a:cubicBezTo>
                  <a:cubicBezTo>
                    <a:pt x="25773" y="5652"/>
                    <a:pt x="39418" y="0"/>
                    <a:pt x="5364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38482" cy="2918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YAZILIM MÜHENDİSLİĞİNDE GÜNCEL KONULAR 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141573" y="2717735"/>
            <a:ext cx="6166764" cy="480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33"/>
              </a:lnSpc>
            </a:pPr>
            <a:r>
              <a:rPr lang="en-US" sz="6984" spc="-272">
                <a:solidFill>
                  <a:srgbClr val="000000"/>
                </a:solidFill>
                <a:latin typeface="Copperplate Gothic 32 AB Bold"/>
                <a:ea typeface="Copperplate Gothic 32 AB Bold"/>
                <a:cs typeface="Copperplate Gothic 32 AB Bold"/>
                <a:sym typeface="Copperplate Gothic 32 AB Bold"/>
              </a:rPr>
              <a:t>LGS İNGILIZCE SORU TAHMIN MODELI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804406" y="5143500"/>
            <a:ext cx="807282" cy="2057400"/>
          </a:xfrm>
          <a:custGeom>
            <a:avLst/>
            <a:gdLst/>
            <a:ahLst/>
            <a:cxnLst/>
            <a:rect r="r" b="b" t="t" l="l"/>
            <a:pathLst>
              <a:path h="2057400" w="807282">
                <a:moveTo>
                  <a:pt x="0" y="0"/>
                </a:moveTo>
                <a:lnTo>
                  <a:pt x="807282" y="0"/>
                </a:lnTo>
                <a:lnTo>
                  <a:pt x="807282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2278813">
            <a:off x="13518595" y="1068563"/>
            <a:ext cx="2135332" cy="2268260"/>
          </a:xfrm>
          <a:custGeom>
            <a:avLst/>
            <a:gdLst/>
            <a:ahLst/>
            <a:cxnLst/>
            <a:rect r="r" b="b" t="t" l="l"/>
            <a:pathLst>
              <a:path h="2268260" w="2135332">
                <a:moveTo>
                  <a:pt x="0" y="0"/>
                </a:moveTo>
                <a:lnTo>
                  <a:pt x="2135332" y="0"/>
                </a:lnTo>
                <a:lnTo>
                  <a:pt x="2135332" y="2268260"/>
                </a:lnTo>
                <a:lnTo>
                  <a:pt x="0" y="22682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802164" y="8961139"/>
            <a:ext cx="457136" cy="297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28303" y="2122411"/>
            <a:ext cx="4555573" cy="45555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E448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10448" y="1958092"/>
            <a:ext cx="4555573" cy="45555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E448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264567" y="6625836"/>
            <a:ext cx="5549695" cy="684136"/>
            <a:chOff x="0" y="0"/>
            <a:chExt cx="1461648" cy="1801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1648" cy="180184"/>
            </a:xfrm>
            <a:custGeom>
              <a:avLst/>
              <a:gdLst/>
              <a:ahLst/>
              <a:cxnLst/>
              <a:rect r="r" b="b" t="t" l="l"/>
              <a:pathLst>
                <a:path h="180184" w="1461648">
                  <a:moveTo>
                    <a:pt x="71146" y="0"/>
                  </a:moveTo>
                  <a:lnTo>
                    <a:pt x="1390502" y="0"/>
                  </a:lnTo>
                  <a:cubicBezTo>
                    <a:pt x="1409371" y="0"/>
                    <a:pt x="1427468" y="7496"/>
                    <a:pt x="1440810" y="20838"/>
                  </a:cubicBezTo>
                  <a:cubicBezTo>
                    <a:pt x="1454152" y="34181"/>
                    <a:pt x="1461648" y="52277"/>
                    <a:pt x="1461648" y="71146"/>
                  </a:cubicBezTo>
                  <a:lnTo>
                    <a:pt x="1461648" y="109038"/>
                  </a:lnTo>
                  <a:cubicBezTo>
                    <a:pt x="1461648" y="148331"/>
                    <a:pt x="1429795" y="180184"/>
                    <a:pt x="1390502" y="180184"/>
                  </a:cubicBezTo>
                  <a:lnTo>
                    <a:pt x="71146" y="180184"/>
                  </a:lnTo>
                  <a:cubicBezTo>
                    <a:pt x="31853" y="180184"/>
                    <a:pt x="0" y="148331"/>
                    <a:pt x="0" y="109038"/>
                  </a:cubicBezTo>
                  <a:lnTo>
                    <a:pt x="0" y="71146"/>
                  </a:lnTo>
                  <a:cubicBezTo>
                    <a:pt x="0" y="31853"/>
                    <a:pt x="31853" y="0"/>
                    <a:pt x="71146" y="0"/>
                  </a:cubicBezTo>
                  <a:close/>
                </a:path>
              </a:pathLst>
            </a:custGeom>
            <a:solidFill>
              <a:srgbClr val="F0E448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461648" cy="2373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6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LGS (LISELERE GEÇIŞ SINAVI)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4748" y="6485090"/>
            <a:ext cx="4311652" cy="908479"/>
            <a:chOff x="0" y="0"/>
            <a:chExt cx="1135579" cy="2392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5579" cy="239270"/>
            </a:xfrm>
            <a:custGeom>
              <a:avLst/>
              <a:gdLst/>
              <a:ahLst/>
              <a:cxnLst/>
              <a:rect r="r" b="b" t="t" l="l"/>
              <a:pathLst>
                <a:path h="239270" w="1135579">
                  <a:moveTo>
                    <a:pt x="91575" y="0"/>
                  </a:moveTo>
                  <a:lnTo>
                    <a:pt x="1044004" y="0"/>
                  </a:lnTo>
                  <a:cubicBezTo>
                    <a:pt x="1094580" y="0"/>
                    <a:pt x="1135579" y="40999"/>
                    <a:pt x="1135579" y="91575"/>
                  </a:cubicBezTo>
                  <a:lnTo>
                    <a:pt x="1135579" y="147696"/>
                  </a:lnTo>
                  <a:cubicBezTo>
                    <a:pt x="1135579" y="171983"/>
                    <a:pt x="1125931" y="195275"/>
                    <a:pt x="1108758" y="212449"/>
                  </a:cubicBezTo>
                  <a:cubicBezTo>
                    <a:pt x="1091584" y="229622"/>
                    <a:pt x="1068292" y="239270"/>
                    <a:pt x="1044004" y="239270"/>
                  </a:cubicBezTo>
                  <a:lnTo>
                    <a:pt x="91575" y="239270"/>
                  </a:lnTo>
                  <a:cubicBezTo>
                    <a:pt x="67288" y="239270"/>
                    <a:pt x="43995" y="229622"/>
                    <a:pt x="26822" y="212449"/>
                  </a:cubicBezTo>
                  <a:cubicBezTo>
                    <a:pt x="9648" y="195275"/>
                    <a:pt x="0" y="171983"/>
                    <a:pt x="0" y="147696"/>
                  </a:cubicBezTo>
                  <a:lnTo>
                    <a:pt x="0" y="91575"/>
                  </a:lnTo>
                  <a:cubicBezTo>
                    <a:pt x="0" y="67288"/>
                    <a:pt x="9648" y="43995"/>
                    <a:pt x="26822" y="26822"/>
                  </a:cubicBezTo>
                  <a:cubicBezTo>
                    <a:pt x="43995" y="9648"/>
                    <a:pt x="67288" y="0"/>
                    <a:pt x="91575" y="0"/>
                  </a:cubicBezTo>
                  <a:close/>
                </a:path>
              </a:pathLst>
            </a:custGeom>
            <a:solidFill>
              <a:srgbClr val="F0E448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135579" cy="2964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6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SEÇTIĞIMIZ DERS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60320" y="7946568"/>
            <a:ext cx="13107883" cy="1801698"/>
            <a:chOff x="0" y="0"/>
            <a:chExt cx="3452282" cy="47452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52282" cy="474521"/>
            </a:xfrm>
            <a:custGeom>
              <a:avLst/>
              <a:gdLst/>
              <a:ahLst/>
              <a:cxnLst/>
              <a:rect r="r" b="b" t="t" l="l"/>
              <a:pathLst>
                <a:path h="474521" w="3452282">
                  <a:moveTo>
                    <a:pt x="30122" y="0"/>
                  </a:moveTo>
                  <a:lnTo>
                    <a:pt x="3422160" y="0"/>
                  </a:lnTo>
                  <a:cubicBezTo>
                    <a:pt x="3430149" y="0"/>
                    <a:pt x="3437810" y="3174"/>
                    <a:pt x="3443459" y="8823"/>
                  </a:cubicBezTo>
                  <a:cubicBezTo>
                    <a:pt x="3449108" y="14472"/>
                    <a:pt x="3452282" y="22133"/>
                    <a:pt x="3452282" y="30122"/>
                  </a:cubicBezTo>
                  <a:lnTo>
                    <a:pt x="3452282" y="444399"/>
                  </a:lnTo>
                  <a:cubicBezTo>
                    <a:pt x="3452282" y="452388"/>
                    <a:pt x="3449108" y="460050"/>
                    <a:pt x="3443459" y="465699"/>
                  </a:cubicBezTo>
                  <a:cubicBezTo>
                    <a:pt x="3437810" y="471348"/>
                    <a:pt x="3430149" y="474521"/>
                    <a:pt x="3422160" y="474521"/>
                  </a:cubicBezTo>
                  <a:lnTo>
                    <a:pt x="30122" y="474521"/>
                  </a:lnTo>
                  <a:cubicBezTo>
                    <a:pt x="13486" y="474521"/>
                    <a:pt x="0" y="461035"/>
                    <a:pt x="0" y="444399"/>
                  </a:cubicBezTo>
                  <a:lnTo>
                    <a:pt x="0" y="30122"/>
                  </a:lnTo>
                  <a:cubicBezTo>
                    <a:pt x="0" y="22133"/>
                    <a:pt x="3174" y="14472"/>
                    <a:pt x="8823" y="8823"/>
                  </a:cubicBezTo>
                  <a:cubicBezTo>
                    <a:pt x="14472" y="3174"/>
                    <a:pt x="22133" y="0"/>
                    <a:pt x="3012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3452282" cy="531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919"/>
                </a:lnSpc>
              </a:pPr>
              <a:r>
                <a:rPr lang="en-US" sz="2799" spc="-5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Proje Amacımız</a:t>
              </a:r>
              <a:r>
                <a:rPr lang="en-US" sz="2799" spc="-5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</a:t>
              </a:r>
            </a:p>
            <a:p>
              <a:pPr algn="l">
                <a:lnSpc>
                  <a:spcPts val="3919"/>
                </a:lnSpc>
              </a:pPr>
              <a:r>
                <a:rPr lang="en-US" sz="2799" spc="-5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Geçmiş yıllardaki İngilizce LGS sorularını analiz ederek gelecek sınavlarda çıkabilecek soruları tahmin eden bir model geliştirmek.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4559373" y="6513665"/>
            <a:ext cx="3515870" cy="3234601"/>
          </a:xfrm>
          <a:custGeom>
            <a:avLst/>
            <a:gdLst/>
            <a:ahLst/>
            <a:cxnLst/>
            <a:rect r="r" b="b" t="t" l="l"/>
            <a:pathLst>
              <a:path h="3234601" w="3515870">
                <a:moveTo>
                  <a:pt x="0" y="0"/>
                </a:moveTo>
                <a:lnTo>
                  <a:pt x="3515871" y="0"/>
                </a:lnTo>
                <a:lnTo>
                  <a:pt x="3515871" y="3234600"/>
                </a:lnTo>
                <a:lnTo>
                  <a:pt x="0" y="3234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851026" y="673201"/>
            <a:ext cx="11517178" cy="691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39"/>
              </a:lnSpc>
            </a:pPr>
            <a:r>
              <a:rPr lang="en-US" sz="4418">
                <a:solidFill>
                  <a:srgbClr val="000000"/>
                </a:solidFill>
                <a:latin typeface="Copperplate Gothic 32 AB Bold"/>
                <a:ea typeface="Copperplate Gothic 32 AB Bold"/>
                <a:cs typeface="Copperplate Gothic 32 AB Bold"/>
                <a:sym typeface="Copperplate Gothic 32 AB Bold"/>
              </a:rPr>
              <a:t>LGS (LISELERE GEÇIŞ SINAVI)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802164" y="8961139"/>
            <a:ext cx="54042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043169" y="3189751"/>
            <a:ext cx="4125840" cy="236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9"/>
              </a:lnSpc>
              <a:spcBef>
                <a:spcPct val="0"/>
              </a:spcBef>
            </a:pPr>
            <a:r>
              <a:rPr lang="en-US" b="true" sz="272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Türkiye’de 8. sınıf öğrencilerinin katıldığı, çokt</a:t>
            </a:r>
            <a:r>
              <a:rPr lang="en-US" b="true" sz="272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 seçmeli 90 sorudan oluşan merkezi sınavdır.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562775" y="3821475"/>
            <a:ext cx="2250918" cy="74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7"/>
              </a:lnSpc>
              <a:spcBef>
                <a:spcPct val="0"/>
              </a:spcBef>
            </a:pPr>
            <a:r>
              <a:rPr lang="en-US" b="true" sz="440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İ</a:t>
            </a:r>
            <a:r>
              <a:rPr lang="en-US" b="true" sz="440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ngilizce</a:t>
            </a:r>
          </a:p>
        </p:txBody>
      </p:sp>
    </p:spTree>
  </p:cSld>
  <p:clrMapOvr>
    <a:masterClrMapping/>
  </p:clrMapOvr>
  <p:transition spd="slow">
    <p:cover dir="l"/>
  </p:transition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60177" y="1835693"/>
            <a:ext cx="5670555" cy="3000016"/>
            <a:chOff x="0" y="0"/>
            <a:chExt cx="1493480" cy="790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93480" cy="790128"/>
            </a:xfrm>
            <a:custGeom>
              <a:avLst/>
              <a:gdLst/>
              <a:ahLst/>
              <a:cxnLst/>
              <a:rect r="r" b="b" t="t" l="l"/>
              <a:pathLst>
                <a:path h="790128" w="1493480">
                  <a:moveTo>
                    <a:pt x="69629" y="0"/>
                  </a:moveTo>
                  <a:lnTo>
                    <a:pt x="1423850" y="0"/>
                  </a:lnTo>
                  <a:cubicBezTo>
                    <a:pt x="1442317" y="0"/>
                    <a:pt x="1460028" y="7336"/>
                    <a:pt x="1473086" y="20394"/>
                  </a:cubicBezTo>
                  <a:cubicBezTo>
                    <a:pt x="1486144" y="33452"/>
                    <a:pt x="1493480" y="51163"/>
                    <a:pt x="1493480" y="69629"/>
                  </a:cubicBezTo>
                  <a:lnTo>
                    <a:pt x="1493480" y="720498"/>
                  </a:lnTo>
                  <a:cubicBezTo>
                    <a:pt x="1493480" y="758954"/>
                    <a:pt x="1462306" y="790128"/>
                    <a:pt x="1423850" y="790128"/>
                  </a:cubicBezTo>
                  <a:lnTo>
                    <a:pt x="69629" y="790128"/>
                  </a:lnTo>
                  <a:cubicBezTo>
                    <a:pt x="31174" y="790128"/>
                    <a:pt x="0" y="758954"/>
                    <a:pt x="0" y="720498"/>
                  </a:cubicBezTo>
                  <a:lnTo>
                    <a:pt x="0" y="69629"/>
                  </a:lnTo>
                  <a:cubicBezTo>
                    <a:pt x="0" y="31174"/>
                    <a:pt x="31174" y="0"/>
                    <a:pt x="6962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93480" cy="8377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</a:t>
              </a:r>
              <a:r>
                <a:rPr lang="en-US" sz="22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I. Dönem Konuları:</a:t>
              </a:r>
            </a:p>
            <a:p>
              <a:pPr algn="l" marL="496564" indent="-248282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Unit 1: Friendship (Arkadaşlık)</a:t>
              </a:r>
            </a:p>
            <a:p>
              <a:pPr algn="l" marL="496564" indent="-248282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Unit 2: Teen Life (Genç Hayatı)</a:t>
              </a:r>
            </a:p>
            <a:p>
              <a:pPr algn="l" marL="496564" indent="-248282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Unit 3: In the Kitchen (Mutfakta)</a:t>
              </a:r>
            </a:p>
            <a:p>
              <a:pPr algn="l" marL="496564" indent="-248282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Unit 4: On the Phone (Telefonda)</a:t>
              </a:r>
            </a:p>
            <a:p>
              <a:pPr algn="l" marL="496564" indent="-248282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Unit 5: The Internet (İnternet)</a:t>
              </a:r>
            </a:p>
            <a:p>
              <a:pPr algn="l">
                <a:lnSpc>
                  <a:spcPts val="321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9494290" y="3155439"/>
            <a:ext cx="1865887" cy="72782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9494290" y="7051339"/>
            <a:ext cx="1865887" cy="72782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-514350" y="9281160"/>
            <a:ext cx="9658350" cy="3086100"/>
            <a:chOff x="0" y="0"/>
            <a:chExt cx="2543763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43763" cy="812800"/>
            </a:xfrm>
            <a:custGeom>
              <a:avLst/>
              <a:gdLst/>
              <a:ahLst/>
              <a:cxnLst/>
              <a:rect r="r" b="b" t="t" l="l"/>
              <a:pathLst>
                <a:path h="812800" w="2543763">
                  <a:moveTo>
                    <a:pt x="40880" y="0"/>
                  </a:moveTo>
                  <a:lnTo>
                    <a:pt x="2502882" y="0"/>
                  </a:lnTo>
                  <a:cubicBezTo>
                    <a:pt x="2513725" y="0"/>
                    <a:pt x="2524123" y="4307"/>
                    <a:pt x="2531789" y="11974"/>
                  </a:cubicBezTo>
                  <a:cubicBezTo>
                    <a:pt x="2539456" y="19640"/>
                    <a:pt x="2543763" y="30038"/>
                    <a:pt x="2543763" y="40880"/>
                  </a:cubicBezTo>
                  <a:lnTo>
                    <a:pt x="2543763" y="771920"/>
                  </a:lnTo>
                  <a:cubicBezTo>
                    <a:pt x="2543763" y="782762"/>
                    <a:pt x="2539456" y="793160"/>
                    <a:pt x="2531789" y="800826"/>
                  </a:cubicBezTo>
                  <a:cubicBezTo>
                    <a:pt x="2524123" y="808493"/>
                    <a:pt x="2513725" y="812800"/>
                    <a:pt x="2502882" y="812800"/>
                  </a:cubicBezTo>
                  <a:lnTo>
                    <a:pt x="40880" y="812800"/>
                  </a:lnTo>
                  <a:cubicBezTo>
                    <a:pt x="30038" y="812800"/>
                    <a:pt x="19640" y="808493"/>
                    <a:pt x="11974" y="800826"/>
                  </a:cubicBezTo>
                  <a:cubicBezTo>
                    <a:pt x="4307" y="793160"/>
                    <a:pt x="0" y="782762"/>
                    <a:pt x="0" y="771920"/>
                  </a:cubicBezTo>
                  <a:lnTo>
                    <a:pt x="0" y="40880"/>
                  </a:lnTo>
                  <a:cubicBezTo>
                    <a:pt x="0" y="30038"/>
                    <a:pt x="4307" y="19640"/>
                    <a:pt x="11974" y="11974"/>
                  </a:cubicBezTo>
                  <a:cubicBezTo>
                    <a:pt x="19640" y="4307"/>
                    <a:pt x="30038" y="0"/>
                    <a:pt x="40880" y="0"/>
                  </a:cubicBezTo>
                  <a:close/>
                </a:path>
              </a:pathLst>
            </a:custGeom>
            <a:solidFill>
              <a:srgbClr val="F0E44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54376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3055096"/>
            <a:ext cx="6061132" cy="387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3"/>
              </a:lnSpc>
            </a:pPr>
            <a:r>
              <a:rPr lang="en-US" sz="7012">
                <a:solidFill>
                  <a:srgbClr val="000000"/>
                </a:solidFill>
                <a:latin typeface="Copperplate Gothic 32 AB Bold"/>
                <a:ea typeface="Copperplate Gothic 32 AB Bold"/>
                <a:cs typeface="Copperplate Gothic 32 AB Bold"/>
                <a:sym typeface="Copperplate Gothic 32 AB Bold"/>
              </a:rPr>
              <a:t>LGS İNGILIZCE KONULARI</a:t>
            </a:r>
          </a:p>
          <a:p>
            <a:pPr algn="l">
              <a:lnSpc>
                <a:spcPts val="7363"/>
              </a:lnSpc>
            </a:pPr>
            <a:r>
              <a:rPr lang="en-US" sz="7012">
                <a:solidFill>
                  <a:srgbClr val="000000"/>
                </a:solidFill>
                <a:latin typeface="Copperplate Gothic 32 AB Bold"/>
                <a:ea typeface="Copperplate Gothic 32 AB Bold"/>
                <a:cs typeface="Copperplate Gothic 32 AB Bold"/>
                <a:sym typeface="Copperplate Gothic 32 AB Bold"/>
              </a:rPr>
              <a:t>NEDİR?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802164" y="8961139"/>
            <a:ext cx="45713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03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144000" y="-2057400"/>
            <a:ext cx="9658350" cy="3086100"/>
            <a:chOff x="0" y="0"/>
            <a:chExt cx="2543763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43763" cy="812800"/>
            </a:xfrm>
            <a:custGeom>
              <a:avLst/>
              <a:gdLst/>
              <a:ahLst/>
              <a:cxnLst/>
              <a:rect r="r" b="b" t="t" l="l"/>
              <a:pathLst>
                <a:path h="812800" w="2543763">
                  <a:moveTo>
                    <a:pt x="40880" y="0"/>
                  </a:moveTo>
                  <a:lnTo>
                    <a:pt x="2502882" y="0"/>
                  </a:lnTo>
                  <a:cubicBezTo>
                    <a:pt x="2513725" y="0"/>
                    <a:pt x="2524123" y="4307"/>
                    <a:pt x="2531789" y="11974"/>
                  </a:cubicBezTo>
                  <a:cubicBezTo>
                    <a:pt x="2539456" y="19640"/>
                    <a:pt x="2543763" y="30038"/>
                    <a:pt x="2543763" y="40880"/>
                  </a:cubicBezTo>
                  <a:lnTo>
                    <a:pt x="2543763" y="771920"/>
                  </a:lnTo>
                  <a:cubicBezTo>
                    <a:pt x="2543763" y="782762"/>
                    <a:pt x="2539456" y="793160"/>
                    <a:pt x="2531789" y="800826"/>
                  </a:cubicBezTo>
                  <a:cubicBezTo>
                    <a:pt x="2524123" y="808493"/>
                    <a:pt x="2513725" y="812800"/>
                    <a:pt x="2502882" y="812800"/>
                  </a:cubicBezTo>
                  <a:lnTo>
                    <a:pt x="40880" y="812800"/>
                  </a:lnTo>
                  <a:cubicBezTo>
                    <a:pt x="30038" y="812800"/>
                    <a:pt x="19640" y="808493"/>
                    <a:pt x="11974" y="800826"/>
                  </a:cubicBezTo>
                  <a:cubicBezTo>
                    <a:pt x="4307" y="793160"/>
                    <a:pt x="0" y="782762"/>
                    <a:pt x="0" y="771920"/>
                  </a:cubicBezTo>
                  <a:lnTo>
                    <a:pt x="0" y="40880"/>
                  </a:lnTo>
                  <a:cubicBezTo>
                    <a:pt x="0" y="30038"/>
                    <a:pt x="4307" y="19640"/>
                    <a:pt x="11974" y="11974"/>
                  </a:cubicBezTo>
                  <a:cubicBezTo>
                    <a:pt x="19640" y="4307"/>
                    <a:pt x="30038" y="0"/>
                    <a:pt x="40880" y="0"/>
                  </a:cubicBezTo>
                  <a:close/>
                </a:path>
              </a:pathLst>
            </a:custGeom>
            <a:solidFill>
              <a:srgbClr val="F0E44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54376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360177" y="5731593"/>
            <a:ext cx="5670555" cy="3400066"/>
            <a:chOff x="0" y="0"/>
            <a:chExt cx="1493480" cy="8954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93480" cy="895491"/>
            </a:xfrm>
            <a:custGeom>
              <a:avLst/>
              <a:gdLst/>
              <a:ahLst/>
              <a:cxnLst/>
              <a:rect r="r" b="b" t="t" l="l"/>
              <a:pathLst>
                <a:path h="895491" w="1493480">
                  <a:moveTo>
                    <a:pt x="69629" y="0"/>
                  </a:moveTo>
                  <a:lnTo>
                    <a:pt x="1423850" y="0"/>
                  </a:lnTo>
                  <a:cubicBezTo>
                    <a:pt x="1442317" y="0"/>
                    <a:pt x="1460028" y="7336"/>
                    <a:pt x="1473086" y="20394"/>
                  </a:cubicBezTo>
                  <a:cubicBezTo>
                    <a:pt x="1486144" y="33452"/>
                    <a:pt x="1493480" y="51163"/>
                    <a:pt x="1493480" y="69629"/>
                  </a:cubicBezTo>
                  <a:lnTo>
                    <a:pt x="1493480" y="825861"/>
                  </a:lnTo>
                  <a:cubicBezTo>
                    <a:pt x="1493480" y="864316"/>
                    <a:pt x="1462306" y="895491"/>
                    <a:pt x="1423850" y="895491"/>
                  </a:cubicBezTo>
                  <a:lnTo>
                    <a:pt x="69629" y="895491"/>
                  </a:lnTo>
                  <a:cubicBezTo>
                    <a:pt x="31174" y="895491"/>
                    <a:pt x="0" y="864316"/>
                    <a:pt x="0" y="825861"/>
                  </a:cubicBezTo>
                  <a:lnTo>
                    <a:pt x="0" y="69629"/>
                  </a:lnTo>
                  <a:cubicBezTo>
                    <a:pt x="0" y="31174"/>
                    <a:pt x="31174" y="0"/>
                    <a:pt x="6962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493480" cy="9431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</a:t>
              </a:r>
              <a:r>
                <a:rPr lang="en-US" sz="22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II. Dönem Konuları:</a:t>
              </a:r>
            </a:p>
            <a:p>
              <a:pPr algn="l" marL="496564" indent="-248282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Unit 6: Adventures (Maceralar)</a:t>
              </a:r>
            </a:p>
            <a:p>
              <a:pPr algn="l" marL="496564" indent="-248282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Unit 7: Tourism (Turizm)</a:t>
              </a:r>
            </a:p>
            <a:p>
              <a:pPr algn="l" marL="496564" indent="-248282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Unit 8: Chores (Ev İşleri)</a:t>
              </a:r>
            </a:p>
            <a:p>
              <a:pPr algn="l" marL="496564" indent="-248282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Unit 9: Science (Bilim)</a:t>
              </a:r>
            </a:p>
            <a:p>
              <a:pPr algn="l" marL="496564" indent="-248282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Unit 10: Natural Forces (Doğal Afetler)</a:t>
              </a:r>
            </a:p>
            <a:p>
              <a:pPr algn="l">
                <a:lnSpc>
                  <a:spcPts val="3219"/>
                </a:lnSpc>
              </a:pPr>
            </a:p>
          </p:txBody>
        </p:sp>
      </p:grpSp>
    </p:spTree>
  </p:cSld>
  <p:clrMapOvr>
    <a:masterClrMapping/>
  </p:clrMapOvr>
  <p:transition spd="slow">
    <p:cover dir="r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2356497" y="1348527"/>
            <a:ext cx="832160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3676576" y="2141173"/>
            <a:ext cx="10432364" cy="7237452"/>
          </a:xfrm>
          <a:custGeom>
            <a:avLst/>
            <a:gdLst/>
            <a:ahLst/>
            <a:cxnLst/>
            <a:rect r="r" b="b" t="t" l="l"/>
            <a:pathLst>
              <a:path h="7237452" w="10432364">
                <a:moveTo>
                  <a:pt x="0" y="0"/>
                </a:moveTo>
                <a:lnTo>
                  <a:pt x="10432364" y="0"/>
                </a:lnTo>
                <a:lnTo>
                  <a:pt x="10432364" y="7237452"/>
                </a:lnTo>
                <a:lnTo>
                  <a:pt x="0" y="72374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06993" y="680802"/>
            <a:ext cx="6520510" cy="1306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9"/>
              </a:lnSpc>
            </a:pPr>
            <a:r>
              <a:rPr lang="en-US" sz="4504">
                <a:solidFill>
                  <a:srgbClr val="000000"/>
                </a:solidFill>
                <a:latin typeface="Copperplate Gothic 32 AB Bold"/>
                <a:ea typeface="Copperplate Gothic 32 AB Bold"/>
                <a:cs typeface="Copperplate Gothic 32 AB Bold"/>
                <a:sym typeface="Copperplate Gothic 32 AB Bold"/>
              </a:rPr>
              <a:t>LGS İNGILIZCE KONU DAĞILIMI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02164" y="8961139"/>
            <a:ext cx="54042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04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892758" y="398910"/>
            <a:ext cx="869489" cy="1588768"/>
          </a:xfrm>
          <a:custGeom>
            <a:avLst/>
            <a:gdLst/>
            <a:ahLst/>
            <a:cxnLst/>
            <a:rect r="r" b="b" t="t" l="l"/>
            <a:pathLst>
              <a:path h="1588768" w="869489">
                <a:moveTo>
                  <a:pt x="0" y="0"/>
                </a:moveTo>
                <a:lnTo>
                  <a:pt x="869489" y="0"/>
                </a:lnTo>
                <a:lnTo>
                  <a:pt x="869489" y="1588768"/>
                </a:lnTo>
                <a:lnTo>
                  <a:pt x="0" y="15887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over dir="u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3885" y="2133135"/>
            <a:ext cx="12703344" cy="47625"/>
            <a:chOff x="0" y="0"/>
            <a:chExt cx="4286733" cy="160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6733" cy="16071"/>
            </a:xfrm>
            <a:custGeom>
              <a:avLst/>
              <a:gdLst/>
              <a:ahLst/>
              <a:cxnLst/>
              <a:rect r="r" b="b" t="t" l="l"/>
              <a:pathLst>
                <a:path h="16071" w="4286733">
                  <a:moveTo>
                    <a:pt x="8036" y="0"/>
                  </a:moveTo>
                  <a:lnTo>
                    <a:pt x="4278698" y="0"/>
                  </a:lnTo>
                  <a:cubicBezTo>
                    <a:pt x="4280829" y="0"/>
                    <a:pt x="4282873" y="847"/>
                    <a:pt x="4284380" y="2354"/>
                  </a:cubicBezTo>
                  <a:cubicBezTo>
                    <a:pt x="4285887" y="3860"/>
                    <a:pt x="4286733" y="5904"/>
                    <a:pt x="4286733" y="8036"/>
                  </a:cubicBezTo>
                  <a:lnTo>
                    <a:pt x="4286733" y="8036"/>
                  </a:lnTo>
                  <a:cubicBezTo>
                    <a:pt x="4286733" y="12473"/>
                    <a:pt x="4283136" y="16071"/>
                    <a:pt x="4278698" y="16071"/>
                  </a:cubicBezTo>
                  <a:lnTo>
                    <a:pt x="8036" y="16071"/>
                  </a:lnTo>
                  <a:cubicBezTo>
                    <a:pt x="5904" y="16071"/>
                    <a:pt x="3860" y="15224"/>
                    <a:pt x="2354" y="13717"/>
                  </a:cubicBezTo>
                  <a:cubicBezTo>
                    <a:pt x="847" y="12211"/>
                    <a:pt x="0" y="10167"/>
                    <a:pt x="0" y="8036"/>
                  </a:cubicBezTo>
                  <a:lnTo>
                    <a:pt x="0" y="8036"/>
                  </a:lnTo>
                  <a:cubicBezTo>
                    <a:pt x="0" y="5904"/>
                    <a:pt x="847" y="3860"/>
                    <a:pt x="2354" y="2354"/>
                  </a:cubicBezTo>
                  <a:cubicBezTo>
                    <a:pt x="3860" y="847"/>
                    <a:pt x="5904" y="0"/>
                    <a:pt x="8036" y="0"/>
                  </a:cubicBezTo>
                  <a:close/>
                </a:path>
              </a:pathLst>
            </a:custGeom>
            <a:solidFill>
              <a:srgbClr val="F0E448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286733" cy="351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15745" y="2867491"/>
            <a:ext cx="2829653" cy="2754908"/>
          </a:xfrm>
          <a:custGeom>
            <a:avLst/>
            <a:gdLst/>
            <a:ahLst/>
            <a:cxnLst/>
            <a:rect r="r" b="b" t="t" l="l"/>
            <a:pathLst>
              <a:path h="2754908" w="2829653">
                <a:moveTo>
                  <a:pt x="0" y="0"/>
                </a:moveTo>
                <a:lnTo>
                  <a:pt x="2829653" y="0"/>
                </a:lnTo>
                <a:lnTo>
                  <a:pt x="2829653" y="2754908"/>
                </a:lnTo>
                <a:lnTo>
                  <a:pt x="0" y="27549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2867491"/>
            <a:ext cx="2913015" cy="2836067"/>
          </a:xfrm>
          <a:custGeom>
            <a:avLst/>
            <a:gdLst/>
            <a:ahLst/>
            <a:cxnLst/>
            <a:rect r="r" b="b" t="t" l="l"/>
            <a:pathLst>
              <a:path h="2836067" w="2913015">
                <a:moveTo>
                  <a:pt x="0" y="0"/>
                </a:moveTo>
                <a:lnTo>
                  <a:pt x="2913015" y="0"/>
                </a:lnTo>
                <a:lnTo>
                  <a:pt x="2913015" y="2836068"/>
                </a:lnTo>
                <a:lnTo>
                  <a:pt x="0" y="28360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78920" y="6870987"/>
            <a:ext cx="2866478" cy="2790759"/>
          </a:xfrm>
          <a:custGeom>
            <a:avLst/>
            <a:gdLst/>
            <a:ahLst/>
            <a:cxnLst/>
            <a:rect r="r" b="b" t="t" l="l"/>
            <a:pathLst>
              <a:path h="2790759" w="2866478">
                <a:moveTo>
                  <a:pt x="0" y="0"/>
                </a:moveTo>
                <a:lnTo>
                  <a:pt x="2866478" y="0"/>
                </a:lnTo>
                <a:lnTo>
                  <a:pt x="2866478" y="2790759"/>
                </a:lnTo>
                <a:lnTo>
                  <a:pt x="0" y="27907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96375" y="6870987"/>
            <a:ext cx="3026901" cy="2937672"/>
          </a:xfrm>
          <a:custGeom>
            <a:avLst/>
            <a:gdLst/>
            <a:ahLst/>
            <a:cxnLst/>
            <a:rect r="r" b="b" t="t" l="l"/>
            <a:pathLst>
              <a:path h="2937672" w="3026901">
                <a:moveTo>
                  <a:pt x="0" y="0"/>
                </a:moveTo>
                <a:lnTo>
                  <a:pt x="3026901" y="0"/>
                </a:lnTo>
                <a:lnTo>
                  <a:pt x="3026901" y="2937672"/>
                </a:lnTo>
                <a:lnTo>
                  <a:pt x="0" y="29376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315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180205"/>
            <a:ext cx="12115769" cy="82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0"/>
              </a:lnSpc>
            </a:pPr>
            <a:r>
              <a:rPr lang="en-US" sz="5219">
                <a:solidFill>
                  <a:srgbClr val="000000"/>
                </a:solidFill>
                <a:latin typeface="Copperplate Gothic 32 AB Bold"/>
                <a:ea typeface="Copperplate Gothic 32 AB Bold"/>
                <a:cs typeface="Copperplate Gothic 32 AB Bold"/>
                <a:sym typeface="Copperplate Gothic 32 AB Bold"/>
              </a:rPr>
              <a:t>SWOT ANALİZİ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802164" y="8961139"/>
            <a:ext cx="45713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31548" y="3010379"/>
            <a:ext cx="3974009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 (Strengths) – Güçlü yönler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97773" y="3604822"/>
            <a:ext cx="5998602" cy="1974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2261" indent="-151130" lvl="1">
              <a:lnSpc>
                <a:spcPts val="1960"/>
              </a:lnSpc>
              <a:buFont typeface="Arial"/>
              <a:buChar char="•"/>
            </a:pPr>
            <a:r>
              <a:rPr lang="en-US" b="true" sz="1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Geçmiş yıllara ait çok sayıda İngilizce soru verisi mevcut.</a:t>
            </a:r>
          </a:p>
          <a:p>
            <a:pPr algn="l" marL="302261" indent="-151130" lvl="1">
              <a:lnSpc>
                <a:spcPts val="1960"/>
              </a:lnSpc>
              <a:buFont typeface="Arial"/>
              <a:buChar char="•"/>
            </a:pPr>
            <a:r>
              <a:rPr lang="en-US" b="true" sz="1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 veriler, makine öğrenmesi için yeterli çeşitlilik ve zorluk seviyesine sahip.</a:t>
            </a:r>
          </a:p>
          <a:p>
            <a:pPr algn="l" marL="302261" indent="-151130" lvl="1">
              <a:lnSpc>
                <a:spcPts val="1960"/>
              </a:lnSpc>
              <a:buFont typeface="Arial"/>
              <a:buChar char="•"/>
            </a:pPr>
            <a:r>
              <a:rPr lang="en-US" b="true" sz="1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Model, düzenli sınav yapısı (MEB formatı) sayesinde istikrarlı örüntüler yakalayabilir.</a:t>
            </a:r>
          </a:p>
          <a:p>
            <a:pPr algn="l" marL="302261" indent="-151130" lvl="1">
              <a:lnSpc>
                <a:spcPts val="1960"/>
              </a:lnSpc>
              <a:buFont typeface="Arial"/>
              <a:buChar char="•"/>
            </a:pPr>
            <a:r>
              <a:rPr lang="en-US" b="true" sz="1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Veri dijitalleştirildiğinde, sistem hızlı şekilde eğitilebilir ve güncellenebilir.</a:t>
            </a:r>
          </a:p>
          <a:p>
            <a:pPr algn="l">
              <a:lnSpc>
                <a:spcPts val="196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2247515" y="3010379"/>
            <a:ext cx="4267646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 (Weaknesses) – Zayıf yönler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57015" y="3494043"/>
            <a:ext cx="6122012" cy="246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2262" indent="-151131" lvl="1">
              <a:lnSpc>
                <a:spcPts val="19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</a:t>
            </a:r>
            <a:r>
              <a:rPr lang="en-US" b="true" sz="1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erilerin ön işlenmesi (konu, zorluk, yıl, tip etiketleme) insan emeği gerektiriyor.Bu veriler, makine öğrenmesi için yeterli çeşitlilik ve zorluk seviyesine sahip.</a:t>
            </a:r>
          </a:p>
          <a:p>
            <a:pPr algn="l" marL="302262" indent="-151131" lvl="1">
              <a:lnSpc>
                <a:spcPts val="19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Bazı s</a:t>
            </a:r>
            <a:r>
              <a:rPr lang="en-US" b="true" sz="1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oruların metinsel karmaşıklığı nedeniyle otomatik etiketleme hataları olabilir.</a:t>
            </a:r>
          </a:p>
          <a:p>
            <a:pPr algn="l" marL="302262" indent="-151131" lvl="1">
              <a:lnSpc>
                <a:spcPts val="19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İngilizce dilinde anlam benzerliği analizi zor (örneğin “grammar” ile “structure” farkı).</a:t>
            </a:r>
          </a:p>
          <a:p>
            <a:pPr algn="l" marL="302262" indent="-151131" lvl="1">
              <a:lnSpc>
                <a:spcPts val="19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ilk sürümlerde düşük doğruluk oranı verebilir, çünkü yeterli öğrenme döngüsüne ihtiyaç duyar.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3316963" y="7001456"/>
            <a:ext cx="4003179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 (Opportunities) – Fırsatlar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47515" y="7172271"/>
            <a:ext cx="3122935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 (Threats) – Tehditler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45398" y="7537671"/>
            <a:ext cx="5998602" cy="2221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2261" indent="-151130" lvl="1">
              <a:lnSpc>
                <a:spcPts val="1960"/>
              </a:lnSpc>
              <a:buFont typeface="Arial"/>
              <a:buChar char="•"/>
            </a:pPr>
            <a:r>
              <a:rPr lang="en-US" b="true" sz="1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Yapay z</a:t>
            </a:r>
            <a:r>
              <a:rPr lang="en-US" b="true" sz="1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ekâ tabanlı tahmin sistemi, öğrenciler ve öğretmenler için yeni nesil sınav simülasyonları oluşturabilir.</a:t>
            </a:r>
          </a:p>
          <a:p>
            <a:pPr algn="l" marL="302261" indent="-151130" lvl="1">
              <a:lnSpc>
                <a:spcPts val="1960"/>
              </a:lnSpc>
              <a:buFont typeface="Arial"/>
              <a:buChar char="•"/>
            </a:pPr>
            <a:r>
              <a:rPr lang="en-US" b="true" sz="1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Farklı yılların LGS verileriyle model sürekli güncellenebilir, böylece trendleri yakalar.</a:t>
            </a:r>
          </a:p>
          <a:p>
            <a:pPr algn="l" marL="302261" indent="-151130" lvl="1">
              <a:lnSpc>
                <a:spcPts val="1960"/>
              </a:lnSpc>
              <a:buFont typeface="Arial"/>
              <a:buChar char="•"/>
            </a:pPr>
            <a:r>
              <a:rPr lang="en-US" b="true" sz="1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Aynı yöntem diğer derslerde (Matematik, Fen vb.) de uyarlanabilir.</a:t>
            </a:r>
          </a:p>
          <a:p>
            <a:pPr algn="l" marL="302261" indent="-151130" lvl="1">
              <a:lnSpc>
                <a:spcPts val="1960"/>
              </a:lnSpc>
              <a:buFont typeface="Arial"/>
              <a:buChar char="•"/>
            </a:pPr>
            <a:r>
              <a:rPr lang="en-US" b="true" sz="1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Eğitim kurumları bu modeli ölçme-değerlendirme aracı olarak kullanabilir.</a:t>
            </a:r>
          </a:p>
          <a:p>
            <a:pPr algn="l">
              <a:lnSpc>
                <a:spcPts val="196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2123276" y="7719100"/>
            <a:ext cx="6164724" cy="2282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0631" indent="-155316" lvl="1">
              <a:lnSpc>
                <a:spcPts val="2014"/>
              </a:lnSpc>
              <a:buFont typeface="Arial"/>
              <a:buChar char="•"/>
            </a:pPr>
            <a:r>
              <a:rPr lang="en-US" b="true" sz="143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MEB’i</a:t>
            </a:r>
            <a:r>
              <a:rPr lang="en-US" b="true" sz="143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 sınav sisteminde ani format değişiklikleri (örneğin yeni soru tipleri) modelin tahmin gücünü azaltabilir.</a:t>
            </a:r>
          </a:p>
          <a:p>
            <a:pPr algn="l" marL="310631" indent="-155316" lvl="1">
              <a:lnSpc>
                <a:spcPts val="2014"/>
              </a:lnSpc>
              <a:buFont typeface="Arial"/>
              <a:buChar char="•"/>
            </a:pPr>
            <a:r>
              <a:rPr lang="en-US" b="true" sz="143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Veri gizliliği ve telif hakları sorunları (özellikle geçmiş LGS sorularında) oluşabilir.</a:t>
            </a:r>
          </a:p>
          <a:p>
            <a:pPr algn="l" marL="310631" indent="-155316" lvl="1">
              <a:lnSpc>
                <a:spcPts val="2014"/>
              </a:lnSpc>
              <a:buFont typeface="Arial"/>
              <a:buChar char="•"/>
            </a:pPr>
            <a:r>
              <a:rPr lang="en-US" b="true" sz="143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Küçük veri setlerinde model aşırı öğrenme (overfitting) gösterebilir.</a:t>
            </a:r>
          </a:p>
          <a:p>
            <a:pPr algn="l" marL="310631" indent="-155316" lvl="1">
              <a:lnSpc>
                <a:spcPts val="2014"/>
              </a:lnSpc>
              <a:buFont typeface="Arial"/>
              <a:buChar char="•"/>
            </a:pPr>
            <a:r>
              <a:rPr lang="en-US" b="true" sz="143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Yetersiz test edilirse, yanlış tahminler öğrencilerde güven sorununa yol açabilir.</a:t>
            </a:r>
          </a:p>
          <a:p>
            <a:pPr algn="l">
              <a:lnSpc>
                <a:spcPts val="2014"/>
              </a:lnSpc>
            </a:pPr>
          </a:p>
        </p:txBody>
      </p:sp>
    </p:spTree>
  </p:cSld>
  <p:clrMapOvr>
    <a:masterClrMapping/>
  </p:clrMapOvr>
  <p:transition spd="fast">
    <p:cover dir="d"/>
  </p:transition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281" y="928516"/>
            <a:ext cx="6520510" cy="190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9"/>
              </a:lnSpc>
            </a:pPr>
            <a:r>
              <a:rPr lang="en-US" sz="4504">
                <a:solidFill>
                  <a:srgbClr val="000000"/>
                </a:solidFill>
                <a:latin typeface="Copperplate Gothic 32 AB Bold"/>
                <a:ea typeface="Copperplate Gothic 32 AB Bold"/>
                <a:cs typeface="Copperplate Gothic 32 AB Bold"/>
                <a:sym typeface="Copperplate Gothic 32 AB Bold"/>
              </a:rPr>
              <a:t>MATEMATIKSEL MODEL (SORU TAHMIN MODELI)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802164" y="8961139"/>
            <a:ext cx="54042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680997" y="-1274637"/>
            <a:ext cx="612536" cy="4785670"/>
            <a:chOff x="0" y="0"/>
            <a:chExt cx="161326" cy="12604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1326" cy="1260423"/>
            </a:xfrm>
            <a:custGeom>
              <a:avLst/>
              <a:gdLst/>
              <a:ahLst/>
              <a:cxnLst/>
              <a:rect r="r" b="b" t="t" l="l"/>
              <a:pathLst>
                <a:path h="1260423" w="161326">
                  <a:moveTo>
                    <a:pt x="80663" y="0"/>
                  </a:moveTo>
                  <a:lnTo>
                    <a:pt x="80663" y="0"/>
                  </a:lnTo>
                  <a:cubicBezTo>
                    <a:pt x="102056" y="0"/>
                    <a:pt x="122573" y="8498"/>
                    <a:pt x="137701" y="23626"/>
                  </a:cubicBezTo>
                  <a:cubicBezTo>
                    <a:pt x="152828" y="38753"/>
                    <a:pt x="161326" y="59270"/>
                    <a:pt x="161326" y="80663"/>
                  </a:cubicBezTo>
                  <a:lnTo>
                    <a:pt x="161326" y="1179760"/>
                  </a:lnTo>
                  <a:cubicBezTo>
                    <a:pt x="161326" y="1201153"/>
                    <a:pt x="152828" y="1221670"/>
                    <a:pt x="137701" y="1236798"/>
                  </a:cubicBezTo>
                  <a:cubicBezTo>
                    <a:pt x="122573" y="1251925"/>
                    <a:pt x="102056" y="1260423"/>
                    <a:pt x="80663" y="1260423"/>
                  </a:cubicBezTo>
                  <a:lnTo>
                    <a:pt x="80663" y="1260423"/>
                  </a:lnTo>
                  <a:cubicBezTo>
                    <a:pt x="59270" y="1260423"/>
                    <a:pt x="38753" y="1251925"/>
                    <a:pt x="23626" y="1236798"/>
                  </a:cubicBezTo>
                  <a:cubicBezTo>
                    <a:pt x="8498" y="1221670"/>
                    <a:pt x="0" y="1201153"/>
                    <a:pt x="0" y="1179760"/>
                  </a:cubicBezTo>
                  <a:lnTo>
                    <a:pt x="0" y="80663"/>
                  </a:lnTo>
                  <a:cubicBezTo>
                    <a:pt x="0" y="59270"/>
                    <a:pt x="8498" y="38753"/>
                    <a:pt x="23626" y="23626"/>
                  </a:cubicBezTo>
                  <a:cubicBezTo>
                    <a:pt x="38753" y="8498"/>
                    <a:pt x="59270" y="0"/>
                    <a:pt x="80663" y="0"/>
                  </a:cubicBezTo>
                  <a:close/>
                </a:path>
              </a:pathLst>
            </a:custGeom>
            <a:solidFill>
              <a:srgbClr val="F0E44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61326" cy="1288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585637" y="3989281"/>
            <a:ext cx="2751534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Qi​=[ki​,zi​,ti​,di​]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5637" y="4767305"/>
            <a:ext cx="1921669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ki​: konu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zi: zorluk seviyesi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ti​: soru tipi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di​: yıl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85637" y="7188560"/>
            <a:ext cx="3637657" cy="165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Tahmin Fonksiyonu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</a:t>
            </a:r>
            <a:r>
              <a:rPr lang="en-US" b="true" sz="1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Ytahmin=f(Qi,W)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f: öğrenme fonksiyonu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W: ağırlıklar (her özelliğin önemi)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25497" y="4008331"/>
            <a:ext cx="8584454" cy="165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Ağırlık Güncellemesi (Öğrenme)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Wyeni=Weski−α×(Ytahmin−Ygercek)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α öğrenme katsayısı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|Ytahmin−Ygercek|:  hata değeri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7188560"/>
            <a:ext cx="10590477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Yeni Soru Üretimi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</a:t>
            </a:r>
            <a:r>
              <a:rPr lang="en-US" b="true" sz="1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Qyeni=(Kmod+Tmod+Mort) mod N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KmodK​: en sık çıkan konu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TmodT​: en sık çıkan soru tipi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Mort: ortalama zorluk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N: toplam kategori sayısı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7635" y="3310911"/>
            <a:ext cx="11802942" cy="47625"/>
            <a:chOff x="0" y="0"/>
            <a:chExt cx="3982894" cy="160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82894" cy="16071"/>
            </a:xfrm>
            <a:custGeom>
              <a:avLst/>
              <a:gdLst/>
              <a:ahLst/>
              <a:cxnLst/>
              <a:rect r="r" b="b" t="t" l="l"/>
              <a:pathLst>
                <a:path h="16071" w="3982894">
                  <a:moveTo>
                    <a:pt x="8036" y="0"/>
                  </a:moveTo>
                  <a:lnTo>
                    <a:pt x="3974858" y="0"/>
                  </a:lnTo>
                  <a:cubicBezTo>
                    <a:pt x="3976989" y="0"/>
                    <a:pt x="3979033" y="847"/>
                    <a:pt x="3980540" y="2354"/>
                  </a:cubicBezTo>
                  <a:cubicBezTo>
                    <a:pt x="3982047" y="3860"/>
                    <a:pt x="3982894" y="5904"/>
                    <a:pt x="3982894" y="8036"/>
                  </a:cubicBezTo>
                  <a:lnTo>
                    <a:pt x="3982894" y="8036"/>
                  </a:lnTo>
                  <a:cubicBezTo>
                    <a:pt x="3982894" y="12473"/>
                    <a:pt x="3979296" y="16071"/>
                    <a:pt x="3974858" y="16071"/>
                  </a:cubicBezTo>
                  <a:lnTo>
                    <a:pt x="8036" y="16071"/>
                  </a:lnTo>
                  <a:cubicBezTo>
                    <a:pt x="5904" y="16071"/>
                    <a:pt x="3860" y="15224"/>
                    <a:pt x="2354" y="13717"/>
                  </a:cubicBezTo>
                  <a:cubicBezTo>
                    <a:pt x="847" y="12211"/>
                    <a:pt x="0" y="10167"/>
                    <a:pt x="0" y="8036"/>
                  </a:cubicBezTo>
                  <a:lnTo>
                    <a:pt x="0" y="8036"/>
                  </a:lnTo>
                  <a:cubicBezTo>
                    <a:pt x="0" y="5904"/>
                    <a:pt x="847" y="3860"/>
                    <a:pt x="2354" y="2354"/>
                  </a:cubicBezTo>
                  <a:cubicBezTo>
                    <a:pt x="3860" y="847"/>
                    <a:pt x="5904" y="0"/>
                    <a:pt x="8036" y="0"/>
                  </a:cubicBezTo>
                  <a:close/>
                </a:path>
              </a:pathLst>
            </a:custGeom>
            <a:solidFill>
              <a:srgbClr val="F0E448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3982894" cy="351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14350" y="9281160"/>
            <a:ext cx="9658350" cy="3086100"/>
            <a:chOff x="0" y="0"/>
            <a:chExt cx="2543763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43763" cy="812800"/>
            </a:xfrm>
            <a:custGeom>
              <a:avLst/>
              <a:gdLst/>
              <a:ahLst/>
              <a:cxnLst/>
              <a:rect r="r" b="b" t="t" l="l"/>
              <a:pathLst>
                <a:path h="812800" w="2543763">
                  <a:moveTo>
                    <a:pt x="40880" y="0"/>
                  </a:moveTo>
                  <a:lnTo>
                    <a:pt x="2502882" y="0"/>
                  </a:lnTo>
                  <a:cubicBezTo>
                    <a:pt x="2513725" y="0"/>
                    <a:pt x="2524123" y="4307"/>
                    <a:pt x="2531789" y="11974"/>
                  </a:cubicBezTo>
                  <a:cubicBezTo>
                    <a:pt x="2539456" y="19640"/>
                    <a:pt x="2543763" y="30038"/>
                    <a:pt x="2543763" y="40880"/>
                  </a:cubicBezTo>
                  <a:lnTo>
                    <a:pt x="2543763" y="771920"/>
                  </a:lnTo>
                  <a:cubicBezTo>
                    <a:pt x="2543763" y="782762"/>
                    <a:pt x="2539456" y="793160"/>
                    <a:pt x="2531789" y="800826"/>
                  </a:cubicBezTo>
                  <a:cubicBezTo>
                    <a:pt x="2524123" y="808493"/>
                    <a:pt x="2513725" y="812800"/>
                    <a:pt x="2502882" y="812800"/>
                  </a:cubicBezTo>
                  <a:lnTo>
                    <a:pt x="40880" y="812800"/>
                  </a:lnTo>
                  <a:cubicBezTo>
                    <a:pt x="30038" y="812800"/>
                    <a:pt x="19640" y="808493"/>
                    <a:pt x="11974" y="800826"/>
                  </a:cubicBezTo>
                  <a:cubicBezTo>
                    <a:pt x="4307" y="793160"/>
                    <a:pt x="0" y="782762"/>
                    <a:pt x="0" y="771920"/>
                  </a:cubicBezTo>
                  <a:lnTo>
                    <a:pt x="0" y="40880"/>
                  </a:lnTo>
                  <a:cubicBezTo>
                    <a:pt x="0" y="30038"/>
                    <a:pt x="4307" y="19640"/>
                    <a:pt x="11974" y="11974"/>
                  </a:cubicBezTo>
                  <a:cubicBezTo>
                    <a:pt x="19640" y="4307"/>
                    <a:pt x="30038" y="0"/>
                    <a:pt x="40880" y="0"/>
                  </a:cubicBezTo>
                  <a:close/>
                </a:path>
              </a:pathLst>
            </a:custGeom>
            <a:solidFill>
              <a:srgbClr val="F0E44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54376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1244954"/>
            <a:ext cx="9142860" cy="2018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3"/>
              </a:lnSpc>
            </a:pPr>
            <a:r>
              <a:rPr lang="en-US" sz="7012">
                <a:solidFill>
                  <a:srgbClr val="000000"/>
                </a:solidFill>
                <a:latin typeface="Copperplate Gothic 32 AB Bold"/>
                <a:ea typeface="Copperplate Gothic 32 AB Bold"/>
                <a:cs typeface="Copperplate Gothic 32 AB Bold"/>
                <a:sym typeface="Copperplate Gothic 32 AB Bold"/>
              </a:rPr>
              <a:t>VERILERIN TOPLANMASI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802164" y="8961139"/>
            <a:ext cx="457136" cy="297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7311" y="3746094"/>
            <a:ext cx="15844733" cy="4350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26"/>
              </a:lnSpc>
            </a:pPr>
            <a:r>
              <a:rPr lang="en-US" b="true" sz="2733" spc="6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Kaynakla</a:t>
            </a:r>
            <a:r>
              <a:rPr lang="en-US" b="true" sz="2733" spc="6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rımız:</a:t>
            </a:r>
          </a:p>
          <a:p>
            <a:pPr algn="just" marL="590149" indent="-295074" lvl="1">
              <a:lnSpc>
                <a:spcPts val="3826"/>
              </a:lnSpc>
              <a:buFont typeface="Arial"/>
              <a:buChar char="•"/>
            </a:pPr>
            <a:r>
              <a:rPr lang="en-US" sz="2733" spc="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Millî Eğitim Bakanlığı (MEB) tarafından yayınlanan geçmiş yıllara ait LGS İngilizce soruları</a:t>
            </a:r>
          </a:p>
          <a:p>
            <a:pPr algn="just" marL="590149" indent="-295074" lvl="1">
              <a:lnSpc>
                <a:spcPts val="3826"/>
              </a:lnSpc>
              <a:buFont typeface="Arial"/>
              <a:buChar char="•"/>
            </a:pPr>
            <a:r>
              <a:rPr lang="en-US" sz="2733" spc="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2018 – 2024 yılları arasındaki İngilizce testlerinin konu dağılımı</a:t>
            </a:r>
          </a:p>
          <a:p>
            <a:pPr algn="just" marL="590149" indent="-295074" lvl="1">
              <a:lnSpc>
                <a:spcPts val="3826"/>
              </a:lnSpc>
              <a:buFont typeface="Arial"/>
              <a:buChar char="•"/>
            </a:pPr>
            <a:r>
              <a:rPr lang="en-US" b="true" sz="2733" spc="6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Web siteleri:</a:t>
            </a:r>
          </a:p>
          <a:p>
            <a:pPr algn="just" marL="1180297" indent="-393432" lvl="2">
              <a:lnSpc>
                <a:spcPts val="3826"/>
              </a:lnSpc>
              <a:buFont typeface="Arial"/>
              <a:buChar char="⚬"/>
            </a:pPr>
            <a:r>
              <a:rPr lang="en-US" sz="2733" spc="62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2" tooltip="https://www.meb.gov.tr"/>
              </a:rPr>
              <a:t>meb.gov.tr</a:t>
            </a:r>
          </a:p>
          <a:p>
            <a:pPr algn="just" marL="1180297" indent="-393432" lvl="2">
              <a:lnSpc>
                <a:spcPts val="3826"/>
              </a:lnSpc>
              <a:buFont typeface="Arial"/>
              <a:buChar char="⚬"/>
            </a:pPr>
            <a:r>
              <a:rPr lang="en-US" sz="2733" spc="62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odsgm.meb.gov.tr"/>
              </a:rPr>
              <a:t>odsgm.meb.gov.tr</a:t>
            </a:r>
          </a:p>
          <a:p>
            <a:pPr algn="just" marL="1180297" indent="-393432" lvl="2">
              <a:lnSpc>
                <a:spcPts val="3826"/>
              </a:lnSpc>
              <a:buFont typeface="Arial"/>
              <a:buChar char="⚬"/>
            </a:pPr>
            <a:r>
              <a:rPr lang="en-US" sz="2733" spc="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egitimhane.com</a:t>
            </a:r>
          </a:p>
          <a:p>
            <a:pPr algn="just">
              <a:lnSpc>
                <a:spcPts val="3826"/>
              </a:lnSpc>
            </a:pP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010141" y="4623877"/>
            <a:ext cx="5717039" cy="5957083"/>
          </a:xfrm>
          <a:prstGeom prst="rect">
            <a:avLst/>
          </a:prstGeom>
        </p:spPr>
      </p:pic>
    </p:spTree>
  </p:cSld>
  <p:clrMapOvr>
    <a:masterClrMapping/>
  </p:clrMapOvr>
  <p:transition spd="slow">
    <p:cover dir="lu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57671" y="-2057400"/>
            <a:ext cx="9658350" cy="3086100"/>
            <a:chOff x="0" y="0"/>
            <a:chExt cx="254376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3763" cy="812800"/>
            </a:xfrm>
            <a:custGeom>
              <a:avLst/>
              <a:gdLst/>
              <a:ahLst/>
              <a:cxnLst/>
              <a:rect r="r" b="b" t="t" l="l"/>
              <a:pathLst>
                <a:path h="812800" w="2543763">
                  <a:moveTo>
                    <a:pt x="40880" y="0"/>
                  </a:moveTo>
                  <a:lnTo>
                    <a:pt x="2502882" y="0"/>
                  </a:lnTo>
                  <a:cubicBezTo>
                    <a:pt x="2513725" y="0"/>
                    <a:pt x="2524123" y="4307"/>
                    <a:pt x="2531789" y="11974"/>
                  </a:cubicBezTo>
                  <a:cubicBezTo>
                    <a:pt x="2539456" y="19640"/>
                    <a:pt x="2543763" y="30038"/>
                    <a:pt x="2543763" y="40880"/>
                  </a:cubicBezTo>
                  <a:lnTo>
                    <a:pt x="2543763" y="771920"/>
                  </a:lnTo>
                  <a:cubicBezTo>
                    <a:pt x="2543763" y="782762"/>
                    <a:pt x="2539456" y="793160"/>
                    <a:pt x="2531789" y="800826"/>
                  </a:cubicBezTo>
                  <a:cubicBezTo>
                    <a:pt x="2524123" y="808493"/>
                    <a:pt x="2513725" y="812800"/>
                    <a:pt x="2502882" y="812800"/>
                  </a:cubicBezTo>
                  <a:lnTo>
                    <a:pt x="40880" y="812800"/>
                  </a:lnTo>
                  <a:cubicBezTo>
                    <a:pt x="30038" y="812800"/>
                    <a:pt x="19640" y="808493"/>
                    <a:pt x="11974" y="800826"/>
                  </a:cubicBezTo>
                  <a:cubicBezTo>
                    <a:pt x="4307" y="793160"/>
                    <a:pt x="0" y="782762"/>
                    <a:pt x="0" y="771920"/>
                  </a:cubicBezTo>
                  <a:lnTo>
                    <a:pt x="0" y="40880"/>
                  </a:lnTo>
                  <a:cubicBezTo>
                    <a:pt x="0" y="30038"/>
                    <a:pt x="4307" y="19640"/>
                    <a:pt x="11974" y="11974"/>
                  </a:cubicBezTo>
                  <a:cubicBezTo>
                    <a:pt x="19640" y="4307"/>
                    <a:pt x="30038" y="0"/>
                    <a:pt x="40880" y="0"/>
                  </a:cubicBezTo>
                  <a:close/>
                </a:path>
              </a:pathLst>
            </a:custGeom>
            <a:solidFill>
              <a:srgbClr val="F0E44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54376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38080" y="9258300"/>
            <a:ext cx="9658350" cy="3086100"/>
            <a:chOff x="0" y="0"/>
            <a:chExt cx="2543763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43763" cy="812800"/>
            </a:xfrm>
            <a:custGeom>
              <a:avLst/>
              <a:gdLst/>
              <a:ahLst/>
              <a:cxnLst/>
              <a:rect r="r" b="b" t="t" l="l"/>
              <a:pathLst>
                <a:path h="812800" w="2543763">
                  <a:moveTo>
                    <a:pt x="40880" y="0"/>
                  </a:moveTo>
                  <a:lnTo>
                    <a:pt x="2502882" y="0"/>
                  </a:lnTo>
                  <a:cubicBezTo>
                    <a:pt x="2513725" y="0"/>
                    <a:pt x="2524123" y="4307"/>
                    <a:pt x="2531789" y="11974"/>
                  </a:cubicBezTo>
                  <a:cubicBezTo>
                    <a:pt x="2539456" y="19640"/>
                    <a:pt x="2543763" y="30038"/>
                    <a:pt x="2543763" y="40880"/>
                  </a:cubicBezTo>
                  <a:lnTo>
                    <a:pt x="2543763" y="771920"/>
                  </a:lnTo>
                  <a:cubicBezTo>
                    <a:pt x="2543763" y="782762"/>
                    <a:pt x="2539456" y="793160"/>
                    <a:pt x="2531789" y="800826"/>
                  </a:cubicBezTo>
                  <a:cubicBezTo>
                    <a:pt x="2524123" y="808493"/>
                    <a:pt x="2513725" y="812800"/>
                    <a:pt x="2502882" y="812800"/>
                  </a:cubicBezTo>
                  <a:lnTo>
                    <a:pt x="40880" y="812800"/>
                  </a:lnTo>
                  <a:cubicBezTo>
                    <a:pt x="30038" y="812800"/>
                    <a:pt x="19640" y="808493"/>
                    <a:pt x="11974" y="800826"/>
                  </a:cubicBezTo>
                  <a:cubicBezTo>
                    <a:pt x="4307" y="793160"/>
                    <a:pt x="0" y="782762"/>
                    <a:pt x="0" y="771920"/>
                  </a:cubicBezTo>
                  <a:lnTo>
                    <a:pt x="0" y="40880"/>
                  </a:lnTo>
                  <a:cubicBezTo>
                    <a:pt x="0" y="30038"/>
                    <a:pt x="4307" y="19640"/>
                    <a:pt x="11974" y="11974"/>
                  </a:cubicBezTo>
                  <a:cubicBezTo>
                    <a:pt x="19640" y="4307"/>
                    <a:pt x="30038" y="0"/>
                    <a:pt x="40880" y="0"/>
                  </a:cubicBezTo>
                  <a:close/>
                </a:path>
              </a:pathLst>
            </a:custGeom>
            <a:solidFill>
              <a:srgbClr val="F0E44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54376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86289" y="2510677"/>
            <a:ext cx="9002148" cy="3702133"/>
          </a:xfrm>
          <a:custGeom>
            <a:avLst/>
            <a:gdLst/>
            <a:ahLst/>
            <a:cxnLst/>
            <a:rect r="r" b="b" t="t" l="l"/>
            <a:pathLst>
              <a:path h="3702133" w="9002148">
                <a:moveTo>
                  <a:pt x="0" y="0"/>
                </a:moveTo>
                <a:lnTo>
                  <a:pt x="9002148" y="0"/>
                </a:lnTo>
                <a:lnTo>
                  <a:pt x="9002148" y="3702133"/>
                </a:lnTo>
                <a:lnTo>
                  <a:pt x="0" y="37021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4209147"/>
            <a:ext cx="8987983" cy="4516462"/>
          </a:xfrm>
          <a:custGeom>
            <a:avLst/>
            <a:gdLst/>
            <a:ahLst/>
            <a:cxnLst/>
            <a:rect r="r" b="b" t="t" l="l"/>
            <a:pathLst>
              <a:path h="4516462" w="8987983">
                <a:moveTo>
                  <a:pt x="0" y="0"/>
                </a:moveTo>
                <a:lnTo>
                  <a:pt x="8987983" y="0"/>
                </a:lnTo>
                <a:lnTo>
                  <a:pt x="8987983" y="4516462"/>
                </a:lnTo>
                <a:lnTo>
                  <a:pt x="0" y="45164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71550" y="567894"/>
            <a:ext cx="13612934" cy="1663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4"/>
              </a:lnSpc>
            </a:pPr>
            <a:r>
              <a:rPr lang="en-US" sz="5727">
                <a:solidFill>
                  <a:srgbClr val="000000"/>
                </a:solidFill>
                <a:latin typeface="Copperplate Gothic 32 AB Bold"/>
                <a:ea typeface="Copperplate Gothic 32 AB Bold"/>
                <a:cs typeface="Copperplate Gothic 32 AB Bold"/>
                <a:sym typeface="Copperplate Gothic 32 AB Bold"/>
              </a:rPr>
              <a:t>LGS İNGILIZCE SORULARINDAN ÖRNEKLER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802164" y="8961139"/>
            <a:ext cx="45713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08</a:t>
            </a:r>
          </a:p>
        </p:txBody>
      </p:sp>
    </p:spTree>
  </p:cSld>
  <p:clrMapOvr>
    <a:masterClrMapping/>
  </p:clrMapOvr>
  <p:transition spd="slow">
    <p:cover dir="rd"/>
  </p:transition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21822" y="2824698"/>
            <a:ext cx="9642209" cy="964220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E448">
                <a:alpha val="17647"/>
              </a:srgbClr>
            </a:solidFill>
            <a:ln w="3810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180205"/>
            <a:ext cx="12115769" cy="82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0"/>
              </a:lnSpc>
            </a:pPr>
            <a:r>
              <a:rPr lang="en-US" sz="5219">
                <a:solidFill>
                  <a:srgbClr val="000000"/>
                </a:solidFill>
                <a:latin typeface="Copperplate Gothic 32 AB Bold"/>
                <a:ea typeface="Copperplate Gothic 32 AB Bold"/>
                <a:cs typeface="Copperplate Gothic 32 AB Bold"/>
                <a:sym typeface="Copperplate Gothic 32 AB Bold"/>
              </a:rPr>
              <a:t>SONUÇ VE BEKLENEN ÇIKTI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802164" y="8961139"/>
            <a:ext cx="45713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99283" y="4591855"/>
            <a:ext cx="14349110" cy="3053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4443" indent="-267222" lvl="1">
              <a:lnSpc>
                <a:spcPts val="3465"/>
              </a:lnSpc>
              <a:buFont typeface="Arial"/>
              <a:buChar char="•"/>
            </a:pPr>
            <a:r>
              <a:rPr lang="en-US" b="true" sz="2475" spc="5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</a:t>
            </a:r>
            <a:r>
              <a:rPr lang="en-US" b="true" sz="2475" spc="5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odel, geçmiş yıllardaki LGS İngilizce sorularını analiz ederek gelecek sınavda hangi  tip soru gelme ihtimalinin yüksek olduğunu gösterecek.</a:t>
            </a:r>
          </a:p>
          <a:p>
            <a:pPr algn="just" marL="534443" indent="-267222" lvl="1">
              <a:lnSpc>
                <a:spcPts val="3465"/>
              </a:lnSpc>
              <a:buFont typeface="Arial"/>
              <a:buChar char="•"/>
            </a:pPr>
            <a:r>
              <a:rPr lang="en-US" b="true" sz="2475" spc="5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Böylece öğrenciler, hangi konulara daha çok çalışmaları gerektiğini veriye dayalı olarak görebilecek.</a:t>
            </a:r>
          </a:p>
          <a:p>
            <a:pPr algn="just" marL="534443" indent="-267222" lvl="1">
              <a:lnSpc>
                <a:spcPts val="3465"/>
              </a:lnSpc>
              <a:buFont typeface="Arial"/>
              <a:buChar char="•"/>
            </a:pPr>
            <a:r>
              <a:rPr lang="en-US" b="true" sz="2475" spc="5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Proje, yapay zekanın eğitim alanında yönlendirici bir araç olabileceğini göstermektedir.</a:t>
            </a:r>
          </a:p>
          <a:p>
            <a:pPr algn="just">
              <a:lnSpc>
                <a:spcPts val="3465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-1799999">
            <a:off x="6513474" y="8455945"/>
            <a:ext cx="1336123" cy="133612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E448">
                <a:alpha val="17647"/>
              </a:srgbClr>
            </a:solidFill>
            <a:ln w="3810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3885" y="2133135"/>
            <a:ext cx="12703344" cy="47625"/>
            <a:chOff x="0" y="0"/>
            <a:chExt cx="4286733" cy="160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86733" cy="16071"/>
            </a:xfrm>
            <a:custGeom>
              <a:avLst/>
              <a:gdLst/>
              <a:ahLst/>
              <a:cxnLst/>
              <a:rect r="r" b="b" t="t" l="l"/>
              <a:pathLst>
                <a:path h="16071" w="4286733">
                  <a:moveTo>
                    <a:pt x="8036" y="0"/>
                  </a:moveTo>
                  <a:lnTo>
                    <a:pt x="4278698" y="0"/>
                  </a:lnTo>
                  <a:cubicBezTo>
                    <a:pt x="4280829" y="0"/>
                    <a:pt x="4282873" y="847"/>
                    <a:pt x="4284380" y="2354"/>
                  </a:cubicBezTo>
                  <a:cubicBezTo>
                    <a:pt x="4285887" y="3860"/>
                    <a:pt x="4286733" y="5904"/>
                    <a:pt x="4286733" y="8036"/>
                  </a:cubicBezTo>
                  <a:lnTo>
                    <a:pt x="4286733" y="8036"/>
                  </a:lnTo>
                  <a:cubicBezTo>
                    <a:pt x="4286733" y="12473"/>
                    <a:pt x="4283136" y="16071"/>
                    <a:pt x="4278698" y="16071"/>
                  </a:cubicBezTo>
                  <a:lnTo>
                    <a:pt x="8036" y="16071"/>
                  </a:lnTo>
                  <a:cubicBezTo>
                    <a:pt x="5904" y="16071"/>
                    <a:pt x="3860" y="15224"/>
                    <a:pt x="2354" y="13717"/>
                  </a:cubicBezTo>
                  <a:cubicBezTo>
                    <a:pt x="847" y="12211"/>
                    <a:pt x="0" y="10167"/>
                    <a:pt x="0" y="8036"/>
                  </a:cubicBezTo>
                  <a:lnTo>
                    <a:pt x="0" y="8036"/>
                  </a:lnTo>
                  <a:cubicBezTo>
                    <a:pt x="0" y="5904"/>
                    <a:pt x="847" y="3860"/>
                    <a:pt x="2354" y="2354"/>
                  </a:cubicBezTo>
                  <a:cubicBezTo>
                    <a:pt x="3860" y="847"/>
                    <a:pt x="5904" y="0"/>
                    <a:pt x="8036" y="0"/>
                  </a:cubicBezTo>
                  <a:close/>
                </a:path>
              </a:pathLst>
            </a:custGeom>
            <a:solidFill>
              <a:srgbClr val="F0E448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4286733" cy="351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  <p:transition spd="slow">
    <p:cover dir="ld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9991" y="1028700"/>
            <a:ext cx="1979014" cy="2121750"/>
          </a:xfrm>
          <a:custGeom>
            <a:avLst/>
            <a:gdLst/>
            <a:ahLst/>
            <a:cxnLst/>
            <a:rect r="r" b="b" t="t" l="l"/>
            <a:pathLst>
              <a:path h="2121750" w="1979014">
                <a:moveTo>
                  <a:pt x="0" y="0"/>
                </a:moveTo>
                <a:lnTo>
                  <a:pt x="1979014" y="0"/>
                </a:lnTo>
                <a:lnTo>
                  <a:pt x="1979014" y="2121750"/>
                </a:lnTo>
                <a:lnTo>
                  <a:pt x="0" y="2121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50216" y="1955317"/>
            <a:ext cx="869489" cy="1588768"/>
          </a:xfrm>
          <a:custGeom>
            <a:avLst/>
            <a:gdLst/>
            <a:ahLst/>
            <a:cxnLst/>
            <a:rect r="r" b="b" t="t" l="l"/>
            <a:pathLst>
              <a:path h="1588768" w="869489">
                <a:moveTo>
                  <a:pt x="0" y="0"/>
                </a:moveTo>
                <a:lnTo>
                  <a:pt x="869489" y="0"/>
                </a:lnTo>
                <a:lnTo>
                  <a:pt x="869489" y="1588768"/>
                </a:lnTo>
                <a:lnTo>
                  <a:pt x="0" y="15887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19705" y="6810693"/>
            <a:ext cx="2387983" cy="2201286"/>
          </a:xfrm>
          <a:custGeom>
            <a:avLst/>
            <a:gdLst/>
            <a:ahLst/>
            <a:cxnLst/>
            <a:rect r="r" b="b" t="t" l="l"/>
            <a:pathLst>
              <a:path h="2201286" w="2387983">
                <a:moveTo>
                  <a:pt x="0" y="0"/>
                </a:moveTo>
                <a:lnTo>
                  <a:pt x="2387983" y="0"/>
                </a:lnTo>
                <a:lnTo>
                  <a:pt x="2387983" y="2201286"/>
                </a:lnTo>
                <a:lnTo>
                  <a:pt x="0" y="22012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9129" y="6905441"/>
            <a:ext cx="3102014" cy="2477734"/>
          </a:xfrm>
          <a:custGeom>
            <a:avLst/>
            <a:gdLst/>
            <a:ahLst/>
            <a:cxnLst/>
            <a:rect r="r" b="b" t="t" l="l"/>
            <a:pathLst>
              <a:path h="2477734" w="3102014">
                <a:moveTo>
                  <a:pt x="0" y="0"/>
                </a:moveTo>
                <a:lnTo>
                  <a:pt x="3102014" y="0"/>
                </a:lnTo>
                <a:lnTo>
                  <a:pt x="3102014" y="2477734"/>
                </a:lnTo>
                <a:lnTo>
                  <a:pt x="0" y="24777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18544" y="4388648"/>
            <a:ext cx="13189144" cy="1431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4"/>
              </a:lnSpc>
            </a:pPr>
            <a:r>
              <a:rPr lang="en-US" sz="9137">
                <a:solidFill>
                  <a:srgbClr val="000000"/>
                </a:solidFill>
                <a:latin typeface="Copperplate Gothic 32 AB Bold"/>
                <a:ea typeface="Copperplate Gothic 32 AB Bold"/>
                <a:cs typeface="Copperplate Gothic 32 AB Bold"/>
                <a:sym typeface="Copperplate Gothic 32 AB Bold"/>
              </a:rPr>
              <a:t>TEŞEKKÜRLER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417995" y="6349781"/>
            <a:ext cx="1190242" cy="3033394"/>
          </a:xfrm>
          <a:custGeom>
            <a:avLst/>
            <a:gdLst/>
            <a:ahLst/>
            <a:cxnLst/>
            <a:rect r="r" b="b" t="t" l="l"/>
            <a:pathLst>
              <a:path h="3033394" w="1190242">
                <a:moveTo>
                  <a:pt x="0" y="0"/>
                </a:moveTo>
                <a:lnTo>
                  <a:pt x="1190242" y="0"/>
                </a:lnTo>
                <a:lnTo>
                  <a:pt x="1190242" y="3033394"/>
                </a:lnTo>
                <a:lnTo>
                  <a:pt x="0" y="30333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406985" y="1604485"/>
            <a:ext cx="3474030" cy="198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199" spc="347">
                <a:solidFill>
                  <a:srgbClr val="020203"/>
                </a:solidFill>
                <a:latin typeface="Canva Sans"/>
                <a:ea typeface="Canva Sans"/>
                <a:cs typeface="Canva Sans"/>
                <a:sym typeface="Canva Sans"/>
              </a:rPr>
              <a:t>www.harikasite.web.tr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802164" y="8961139"/>
            <a:ext cx="457136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</a:t>
            </a:r>
          </a:p>
          <a:p>
            <a:pPr algn="ctr">
              <a:lnSpc>
                <a:spcPts val="2520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-2278813">
            <a:off x="14885521" y="858977"/>
            <a:ext cx="2135332" cy="2268260"/>
          </a:xfrm>
          <a:custGeom>
            <a:avLst/>
            <a:gdLst/>
            <a:ahLst/>
            <a:cxnLst/>
            <a:rect r="r" b="b" t="t" l="l"/>
            <a:pathLst>
              <a:path h="2268260" w="2135332">
                <a:moveTo>
                  <a:pt x="0" y="0"/>
                </a:moveTo>
                <a:lnTo>
                  <a:pt x="2135332" y="0"/>
                </a:lnTo>
                <a:lnTo>
                  <a:pt x="2135332" y="2268260"/>
                </a:lnTo>
                <a:lnTo>
                  <a:pt x="0" y="22682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DAG3uYljUbk</dc:identifier>
  <dcterms:modified xsi:type="dcterms:W3CDTF">2011-08-01T06:04:30Z</dcterms:modified>
  <cp:revision>1</cp:revision>
  <dc:title>LGS İngilizce Soru Tahmin Modeli</dc:title>
</cp:coreProperties>
</file>